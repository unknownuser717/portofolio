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653F31-B2F3-4979-A613-DDEC09946927}" v="1" dt="2026-06-12T07:04:21.825"/>
    <p1510:client id="{8DDC2371-7B54-49DD-B755-F79467CAA9FD}" v="32" dt="2026-06-12T06:57:52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8BF28-D03D-4948-A2AC-489BAEF669D5}" type="datetimeFigureOut">
              <a:t>6/11/2026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6BE4A-1FFA-4925-AD99-1C7F8C3A5EED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508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6000" b="1" dirty="0" err="1">
                <a:solidFill>
                  <a:srgbClr val="C9A84C"/>
                </a:solidFill>
                <a:latin typeface="Cambria"/>
                <a:ea typeface="Cambria"/>
                <a:cs typeface="Cambria" pitchFamily="34" charset="-120"/>
              </a:rPr>
              <a:t>SAECine</a:t>
            </a:r>
            <a:r>
              <a:rPr lang="en-US" sz="6000" b="1" dirty="0">
                <a:solidFill>
                  <a:srgbClr val="C9A84C"/>
                </a:solidFill>
                <a:latin typeface="Cambria"/>
                <a:ea typeface="Cambria"/>
                <a:cs typeface="Cambria" pitchFamily="34" charset="-120"/>
              </a:rPr>
              <a:t> </a:t>
            </a:r>
            <a:r>
              <a:rPr lang="en-US" sz="1200" b="1" dirty="0">
                <a:solidFill>
                  <a:srgbClr val="C9A84C"/>
                </a:solidFill>
                <a:latin typeface="Cambria"/>
                <a:ea typeface="Cambria"/>
                <a:cs typeface="Cambria" pitchFamily="34" charset="-120"/>
              </a:rPr>
              <a:t>Valentin EHRLE – Younes Fatmi</a:t>
            </a:r>
            <a:endParaRPr lang="en-US" sz="1200" b="1">
              <a:solidFill>
                <a:srgbClr val="C9A84C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SAE4 — Developpement d'une application complexe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1762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Rapport de mise en oeuvre — Juin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33472"/>
            <a:ext cx="1828800" cy="6400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346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Damien Rinaldis  |  Ethan Stasse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16382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IUT de Saint-Die — BUT Informatique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490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tests PHPUnit — 100% de reussite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27243" y="3770743"/>
            <a:ext cx="2560320" cy="475488"/>
          </a:xfrm>
          <a:prstGeom prst="roundRect">
            <a:avLst>
              <a:gd name="adj" fmla="val 19231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218683" y="3770743"/>
            <a:ext cx="237744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Jury : CASPARY A. — BOURJIJ A.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50976"/>
            <a:ext cx="457200" cy="530352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509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8961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initial — failles identifiees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950976"/>
            <a:ext cx="457200" cy="530352"/>
          </a:xfrm>
          <a:prstGeom prst="roundRect">
            <a:avLst>
              <a:gd name="adj" fmla="val 16000"/>
            </a:avLst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9509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67528" y="8961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67528" y="12618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SQL, XSS, CSRF, brute-force, credentials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10512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56816"/>
            <a:ext cx="457200" cy="530352"/>
          </a:xfrm>
          <a:prstGeom prst="roundRect">
            <a:avLst>
              <a:gd name="adj" fmla="val 16000"/>
            </a:avLst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568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19019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267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erreurs, logs, tests PHPUnit, validation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810512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1956816"/>
            <a:ext cx="457200" cy="530352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195681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67528" y="190195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67528" y="2267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BDD, GZIP, cache HTTP, suppression SELECT *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816352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62656"/>
            <a:ext cx="457200" cy="530352"/>
          </a:xfrm>
          <a:prstGeom prst="roundRect">
            <a:avLst>
              <a:gd name="adj" fmla="val 16000"/>
            </a:avLst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9626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29077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32735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migration InnoDB, cles etrangeres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816352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2962656"/>
            <a:ext cx="457200" cy="530352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296265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67528" y="290779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67528" y="32735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RGAA — clavier, alt, sr-only, contrastes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822192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968496"/>
            <a:ext cx="457200" cy="530352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96849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4400" y="39136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projet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279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commits, branche develop → main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822192"/>
            <a:ext cx="4206240" cy="877824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18888" y="3968496"/>
            <a:ext cx="457200" cy="530352"/>
          </a:xfrm>
          <a:prstGeom prst="roundRect">
            <a:avLst>
              <a:gd name="adj" fmla="val 16000"/>
            </a:avLst>
          </a:prstGeom>
          <a:solidFill>
            <a:srgbClr val="B91C1C"/>
          </a:solidFill>
          <a:ln/>
        </p:spPr>
      </p:sp>
      <p:sp>
        <p:nvSpPr>
          <p:cNvPr id="41" name="Text 39"/>
          <p:cNvSpPr/>
          <p:nvPr/>
        </p:nvSpPr>
        <p:spPr>
          <a:xfrm>
            <a:off x="4818888" y="396849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67528" y="39136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Difficultes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67528" y="42793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Problemes rencontres, solutions apportees, perspectives</a:t>
            </a:r>
            <a:endParaRPr lang="en-US" sz="1000" dirty="0"/>
          </a:p>
        </p:txBody>
      </p:sp>
      <p:sp>
        <p:nvSpPr>
          <p:cNvPr id="44" name="Rectangle 43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— Application SAECine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77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originale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913632" cy="402336"/>
          </a:xfrm>
          <a:prstGeom prst="roundRect">
            <a:avLst>
              <a:gd name="adj" fmla="val 15909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98448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Site de vote de films en PHP/MySQL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391363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773936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 procedural — pas de 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3913632" cy="402336"/>
          </a:xfrm>
          <a:prstGeom prst="roundRect">
            <a:avLst>
              <a:gd name="adj" fmla="val 15909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249424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Moteur MyISAM sans cles etrangeres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391363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724912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Encodage utf8mb3 incomplet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3913632" cy="402336"/>
          </a:xfrm>
          <a:prstGeom prst="roundRect">
            <a:avLst>
              <a:gd name="adj" fmla="val 15909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200400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Aucun systeme de versionnement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75888"/>
            <a:ext cx="3913632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675888"/>
            <a:ext cx="37124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Hebergement local WAMP uniquement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27448" y="804672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55464" y="877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Failles identifiees a l'audit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37176" y="1298448"/>
            <a:ext cx="3913632" cy="365760"/>
          </a:xfrm>
          <a:prstGeom prst="roundRect">
            <a:avLst>
              <a:gd name="adj" fmla="val 17500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4946904" y="1298448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Mots de passe admin en clair (admin123)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37176" y="1728216"/>
            <a:ext cx="3913632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46904" y="1728216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Credentials BDD dans le code source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37176" y="2157984"/>
            <a:ext cx="3913632" cy="365760"/>
          </a:xfrm>
          <a:prstGeom prst="roundRect">
            <a:avLst>
              <a:gd name="adj" fmla="val 17500"/>
            </a:avLst>
          </a:prstGeom>
          <a:solidFill>
            <a:srgbClr val="FE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4946904" y="2157984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Aucune protection CSRF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37176" y="2587752"/>
            <a:ext cx="3913632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946904" y="2587752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Aucune limite de tentatives connexion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37176" y="3017520"/>
            <a:ext cx="3913632" cy="365760"/>
          </a:xfrm>
          <a:prstGeom prst="roundRect">
            <a:avLst>
              <a:gd name="adj" fmla="val 17500"/>
            </a:avLst>
          </a:prstGeom>
          <a:solidFill>
            <a:srgbClr val="FE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4946904" y="3017520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Erreurs PHP affichees en production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37176" y="3447288"/>
            <a:ext cx="3913632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46904" y="3447288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Aucun test unitaire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37176" y="3877056"/>
            <a:ext cx="3913632" cy="365760"/>
          </a:xfrm>
          <a:prstGeom prst="roundRect">
            <a:avLst>
              <a:gd name="adj" fmla="val 17500"/>
            </a:avLst>
          </a:prstGeom>
          <a:solidFill>
            <a:srgbClr val="FEF2F2"/>
          </a:solidFill>
          <a:ln/>
        </p:spPr>
      </p:sp>
      <p:sp>
        <p:nvSpPr>
          <p:cNvPr id="33" name="Text 31"/>
          <p:cNvSpPr/>
          <p:nvPr/>
        </p:nvSpPr>
        <p:spPr>
          <a:xfrm>
            <a:off x="4946904" y="3877056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Pas de compression GZIP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37176" y="4306824"/>
            <a:ext cx="3913632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46904" y="4306824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Pas de Docker — non portable</a:t>
            </a:r>
            <a:endParaRPr 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Securite — Credentials, bcrypt, CSRF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605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.env + dbconnect securise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Credentials BDD en dur dans le code — visibles sur GitLab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: Fichier .env + .gitignore + PDO ATTR_EMULATE_PREPARES=false + utf8mb4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3913632" cy="594360"/>
          </a:xfrm>
          <a:prstGeom prst="roundRect">
            <a:avLst>
              <a:gd name="adj" fmla="val 10769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DB_HOST=localhost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DB_NAME=saecine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exclus par .gitignore — jamais committe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160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804672"/>
            <a:ext cx="416052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855464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Mots de passe — hashage bcrypt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5464" y="12618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admin123 stocke en clair en BDD — acces immediat si compromis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5464" y="16002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: password_hash($pwd, PASSWORD_BCRYPT) + verification password_verify()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37176" y="2084832"/>
            <a:ext cx="3913632" cy="594360"/>
          </a:xfrm>
          <a:prstGeom prst="roundRect">
            <a:avLst>
              <a:gd name="adj" fmla="val 10769"/>
            </a:avLst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928616" y="21031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$2y$10$... hash irreversible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le mot de passe en clair en BDD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" y="2880360"/>
            <a:ext cx="863193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880360"/>
            <a:ext cx="8631936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8986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Protection CSRF — Token aleatoire sur tous les formulaires POST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34670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Aucun formulaire protege — un site malveillant pouvait declencher un vote / connexion a l'insu de l'utilisateur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34670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: csrf.php — token 64 caracteres aleatoires en session, verifie avec hash_equals() (resistant aux attaques temporelles), champ hidden dans chaque formulaire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95344"/>
            <a:ext cx="8485632" cy="822960"/>
          </a:xfrm>
          <a:prstGeom prst="roundRect">
            <a:avLst>
              <a:gd name="adj" fmla="val 7778"/>
            </a:avLst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931920"/>
            <a:ext cx="8266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proteges : connexion (header.php)  •  inscription (header.php)  •  contact (contact.php)  •  vote (voter.php)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4261104"/>
            <a:ext cx="8266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malveillant ne connait pas le token → requete bloquee avec code 403</a:t>
            </a:r>
            <a:endParaRPr lang="en-US" sz="1100" dirty="0"/>
          </a:p>
        </p:txBody>
      </p:sp>
      <p:sp>
        <p:nvSpPr>
          <p:cNvPr id="26" name="Rectangle 25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Securite — Injection SQL, XSS, Brute-force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834640" cy="4160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2834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Injection SQL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2984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17904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admin' OR '1'='1 — la requete retourne tous les enregistrements. Acces BDD complet sans mot de passe.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770632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8072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3017520"/>
            <a:ext cx="248716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prepare avec ATTR_EMULATE_PREPARES = false. Le parametre est une donnee, jamais du code SQL. Injection physiquement impossible.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804672"/>
            <a:ext cx="2834640" cy="4160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04672"/>
            <a:ext cx="283464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3328416" y="8229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XSS — Cross-Site Scripting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26187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12984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01568" y="1517904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&lt;script&gt; affiche sans echappement → s'execute dans le navigateur. Vol de session, redirection, defacement.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770632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/>
        </p:spPr>
      </p:sp>
      <p:sp>
        <p:nvSpPr>
          <p:cNvPr id="20" name="Text 18"/>
          <p:cNvSpPr/>
          <p:nvPr/>
        </p:nvSpPr>
        <p:spPr>
          <a:xfrm>
            <a:off x="3401568" y="28072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1568" y="3017520"/>
            <a:ext cx="248716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htmlspecialchars($val, ENT_QUOTES, 'UTF-8') sur tous les affichages. &lt; devient &amp;lt; — le script s'affiche en texte brut.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81344" y="804672"/>
            <a:ext cx="2834640" cy="4160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804672"/>
            <a:ext cx="283464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291072" y="8229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— Blocage par IP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2784" y="1261872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364224" y="12984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64224" y="1517904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limite sur le formulaire de connexion. Un script peut tester 100 000 mots de passe par minute sans etre bloque.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2784" y="2770632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/>
        </p:spPr>
      </p:sp>
      <p:sp>
        <p:nvSpPr>
          <p:cNvPr id="29" name="Text 27"/>
          <p:cNvSpPr/>
          <p:nvPr/>
        </p:nvSpPr>
        <p:spPr>
          <a:xfrm>
            <a:off x="6364224" y="280720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64224" y="3017520"/>
            <a:ext cx="248716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tentatives max par IP sur 15 minutes. Blocage avec message et compte a rebours. Reset automatique apres succes.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 — Erreurs, Logs, Validation serveur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605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erreurs globale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PHP affichait le chemin, la variable, la structure du code — exploitable par un attaquant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70078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: error_handler.php — set_error_handler() + set_exception_handler()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500 generique en production, detail en dev selon APP_ENV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logMessage() ecrit dans logs/app.log — jamais a l'ecran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3913632" cy="219456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651760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display_errors = 0 en production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160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804672"/>
            <a:ext cx="4160520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3" name="Text 11"/>
          <p:cNvSpPr/>
          <p:nvPr/>
        </p:nvSpPr>
        <p:spPr>
          <a:xfrm>
            <a:off x="4855464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serveur stricte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5464" y="126187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empty() uniquement — titre de 10 000 car possible, upload PHP deguise en image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5464" y="170078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: strlen($titre) &lt;= 200 • preg_match date YYYY-MM-DD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reel via finfo_file() • taille max 5 Mo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strtotime() verification de date reelle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37176" y="2651760"/>
            <a:ext cx="3913632" cy="219456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</p:sp>
      <p:sp>
        <p:nvSpPr>
          <p:cNvPr id="17" name="Text 15"/>
          <p:cNvSpPr/>
          <p:nvPr/>
        </p:nvSpPr>
        <p:spPr>
          <a:xfrm>
            <a:off x="4837176" y="2651760"/>
            <a:ext cx="3913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: extension + MIME reel + taille verifies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3035808"/>
            <a:ext cx="8631936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035808"/>
            <a:ext cx="8631936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05409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 tests PHPUnit — 4 suites — 100% de reussite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" y="3511296"/>
            <a:ext cx="2011680" cy="1261872"/>
          </a:xfrm>
          <a:prstGeom prst="roundRect">
            <a:avLst>
              <a:gd name="adj" fmla="val 5797"/>
            </a:avLst>
          </a:prstGeom>
          <a:solidFill>
            <a:srgbClr val="F0FDF4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5295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84048" y="40050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" y="42428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bcrypt, XSS, brute-force, .env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42032" y="3511296"/>
            <a:ext cx="2011680" cy="1261872"/>
          </a:xfrm>
          <a:prstGeom prst="roundRect">
            <a:avLst>
              <a:gd name="adj" fmla="val 5797"/>
            </a:avLst>
          </a:prstGeom>
          <a:solidFill>
            <a:srgbClr val="F0FDF4"/>
          </a:solidFill>
          <a:ln/>
        </p:spPr>
      </p:sp>
      <p:sp>
        <p:nvSpPr>
          <p:cNvPr id="26" name="Text 24"/>
          <p:cNvSpPr/>
          <p:nvPr/>
        </p:nvSpPr>
        <p:spPr>
          <a:xfrm>
            <a:off x="2542032" y="35295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542032" y="40050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ValidationTest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42032" y="42428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username, password, trim, intval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0016" y="3511296"/>
            <a:ext cx="2011680" cy="1261872"/>
          </a:xfrm>
          <a:prstGeom prst="roundRect">
            <a:avLst>
              <a:gd name="adj" fmla="val 5797"/>
            </a:avLst>
          </a:prstGeom>
          <a:solidFill>
            <a:srgbClr val="F0FDF4"/>
          </a:solidFill>
          <a:ln/>
        </p:spPr>
      </p:sp>
      <p:sp>
        <p:nvSpPr>
          <p:cNvPr id="30" name="Text 28"/>
          <p:cNvSpPr/>
          <p:nvPr/>
        </p:nvSpPr>
        <p:spPr>
          <a:xfrm>
            <a:off x="4700016" y="35295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700016" y="40050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PerformanceTest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0016" y="42428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PHP, memoire, hash_equals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3511296"/>
            <a:ext cx="2011680" cy="1261872"/>
          </a:xfrm>
          <a:prstGeom prst="roundRect">
            <a:avLst>
              <a:gd name="adj" fmla="val 5797"/>
            </a:avLst>
          </a:prstGeom>
          <a:solidFill>
            <a:srgbClr val="F0FDF4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352958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858000" y="40050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AdvancedSecurityTest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42428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Sanitisation avancee</a:t>
            </a:r>
            <a:endParaRPr lang="en-US" sz="900" dirty="0"/>
          </a:p>
        </p:txBody>
      </p:sp>
      <p:sp>
        <p:nvSpPr>
          <p:cNvPr id="37" name="Rectangle 36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— Index BDD, SELECT *, GZIP, Cache HTTP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834640" cy="4160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2834640" cy="38404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BDD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261872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2984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36192"/>
            <a:ext cx="248716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index, MySQL lit toute la table a chaque requete — O(n) full table scan.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724912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0FDF4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76148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999232"/>
            <a:ext cx="2487168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idx_titre, idx_id_realisateur, idx_vote_film, idx_statut, idx_email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jointures et WHERE passent de O(n) a O(log n).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804672"/>
            <a:ext cx="2834640" cy="4160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04672"/>
            <a:ext cx="2834640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3328416" y="8229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Suppression SELECT *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10128" y="1261872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12984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01568" y="1536192"/>
            <a:ext cx="248716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transfere toutes les colonnes meme inutilisees — surcharge memoire et reseau.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724912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0FDF4"/>
          </a:solidFill>
          <a:ln/>
        </p:spPr>
      </p:sp>
      <p:sp>
        <p:nvSpPr>
          <p:cNvPr id="20" name="Text 18"/>
          <p:cNvSpPr/>
          <p:nvPr/>
        </p:nvSpPr>
        <p:spPr>
          <a:xfrm>
            <a:off x="3401568" y="276148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01568" y="2999232"/>
            <a:ext cx="2487168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id, username, password, email FROM admin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les colonnes necessaires — bande passante reduite.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81344" y="804672"/>
            <a:ext cx="2834640" cy="41605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804672"/>
            <a:ext cx="283464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6291072" y="82296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GZIP + Cache HTTP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72784" y="1261872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364224" y="12984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64224" y="1536192"/>
            <a:ext cx="2487168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envoie HTML/CSS/JS brut. Le navigateur retelecharge les ressources a chaque visite.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2784" y="2724912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0FDF4"/>
          </a:solidFill>
          <a:ln/>
        </p:spPr>
      </p:sp>
      <p:sp>
        <p:nvSpPr>
          <p:cNvPr id="29" name="Text 27"/>
          <p:cNvSpPr/>
          <p:nvPr/>
        </p:nvSpPr>
        <p:spPr>
          <a:xfrm>
            <a:off x="6364224" y="276148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64224" y="2999232"/>
            <a:ext cx="2487168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mod_deflate : compression 60-80%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cache 1 semaine — JPEG cache 1 mois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suivantes : 0 requete pour les ressources statiques.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— Conteneurisation Docker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6052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229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— WAMP local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Installation manuelle ~30 min / poste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Windows uniquement — non portable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Import BDD manuel via phpMyAdmin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157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Configuration propre a chaque machine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804672"/>
            <a:ext cx="416052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55464" y="8229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 — Docker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5464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commande : docker compose up -d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5464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Windows, Linux, macOS — portable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55464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BDD importee automatiquement au demarrage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2157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Environnement identique sur tous les postes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" y="26151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3 services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" y="2926080"/>
            <a:ext cx="2834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999232"/>
            <a:ext cx="658368" cy="310896"/>
          </a:xfrm>
          <a:prstGeom prst="roundRect">
            <a:avLst>
              <a:gd name="adj" fmla="val 20588"/>
            </a:avLst>
          </a:prstGeom>
          <a:solidFill>
            <a:srgbClr val="0369A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99923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017520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8.1 + Apache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" y="3364992"/>
            <a:ext cx="26334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PDO/MySQL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env injectees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8688" y="2926080"/>
            <a:ext cx="2834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28416" y="2999232"/>
            <a:ext cx="658368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3328416" y="299923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59936" y="3017520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46704" y="3364992"/>
            <a:ext cx="26334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persistant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3307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81344" y="2926080"/>
            <a:ext cx="28346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91072" y="2999232"/>
            <a:ext cx="658368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6291072" y="299923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db_init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22592" y="3017520"/>
            <a:ext cx="18836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ephemere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364992"/>
            <a:ext cx="26334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saecine.sql + procedures.sql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S'arrete apres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4754880"/>
            <a:ext cx="8631936" cy="292608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 : git clone + docker compose up -d → application sur http://localhost:8080 en 1 commande</a:t>
            </a:r>
            <a:endParaRPr 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— Migration BDD InnoDB + Cles etrangeres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416052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229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— MyISAM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43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Pas de cles etrangeres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Pas de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Encodage utf8mb3 incomplet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395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Mots de passe en clair dans les donnees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804672"/>
            <a:ext cx="416052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55464" y="8229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 — InnoDB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5464" y="12435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ENGINE=InnoDB sur toutes les tables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5464" y="1627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DEFAULT CHARSET=utf8mb4 (emojis)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55464" y="2011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cles etrangeres avec CASCADE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55464" y="2395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Mots de passe admin en bcrypt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26071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Cles etrangeres ajoutees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71216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EEF2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" y="28712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fk_film_realisateur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87121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film.id_realisateur → realisateur.id  ON DELETE SET NULL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" y="3291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fk_jetons_utilisateur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2918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jetons.id_utilisateur → utilisateur.ID  ON DELETE CASCADE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EEF2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37124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fk_vote_utilisateur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71246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vote.id_utilisateur → utilisateur.ID  ON DELETE CASCADE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33088"/>
            <a:ext cx="841248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" y="4133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fk_vote_film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413308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vote.id_film → film.id_film  ON DELETE CASCADE</a:t>
            </a:r>
            <a:endParaRPr 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Accessibilite RGAA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4206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595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clavier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243584"/>
            <a:ext cx="4005072" cy="512064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261872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Aucun outline visible — elements non accessibles au clavier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828800"/>
            <a:ext cx="4005072" cy="877824"/>
          </a:xfrm>
          <a:prstGeom prst="roundRect">
            <a:avLst>
              <a:gd name="adj" fmla="val 7292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847088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: outline: 3px solid blanc + box-shadow. Bordure contrastee sur tous les elements focusables (:focus).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4206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837176" y="8595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Attributs alt images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243584"/>
            <a:ext cx="4005072" cy="512064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1261872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alt="Film" non descriptif sur le carrousel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1828800"/>
            <a:ext cx="4005072" cy="877824"/>
          </a:xfrm>
          <a:prstGeom prst="roundRect">
            <a:avLst>
              <a:gd name="adj" fmla="val 7292"/>
            </a:avLst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1847088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: alt="Affiche du film" + gestion onerror. Semantique RGAA correcte pour lecteurs d'ecran.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" y="2907792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907792"/>
            <a:ext cx="4206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294436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Boutons iconographiques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3328416"/>
            <a:ext cx="4005072" cy="512064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3346704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Fleches du carrousel sans texte alternatif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3913632"/>
            <a:ext cx="4005072" cy="877824"/>
          </a:xfrm>
          <a:prstGeom prst="roundRect">
            <a:avLst>
              <a:gd name="adj" fmla="val 7292"/>
            </a:avLst>
          </a:prstGeom>
          <a:solidFill>
            <a:srgbClr val="F0FDF4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3931920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: Classe .sr-only ajoutee — texte "Image precedente / Image suivante" visible uniquement pour lecteurs d'ecran.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907792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07792"/>
            <a:ext cx="420624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4837176" y="2944368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Contraste couleurs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3328416"/>
            <a:ext cx="4005072" cy="512064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3346704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Texte rouge sur fond rouge dans le bloc admin — ratio insuffisant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913632"/>
            <a:ext cx="4005072" cy="877824"/>
          </a:xfrm>
          <a:prstGeom prst="roundRect">
            <a:avLst>
              <a:gd name="adj" fmla="val 7292"/>
            </a:avLst>
          </a:prstGeom>
          <a:solidFill>
            <a:srgbClr val="F0FDF4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3931920"/>
            <a:ext cx="3858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 : Corrige pour respecter WCAG AA — ratio 4.5:1 minimum. Lisibilite garantie pour tous.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" y="4846320"/>
            <a:ext cx="8631936" cy="228600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: feat: accessibilite RGAA alt/contraste/clavier</a:t>
            </a:r>
            <a:endParaRPr lang="en-US" sz="1000" dirty="0"/>
          </a:p>
        </p:txBody>
      </p:sp>
      <p:sp>
        <p:nvSpPr>
          <p:cNvPr id="34" name="Rectangle 33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projet — Git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206240" cy="422452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877824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des commits — branche develop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362456"/>
            <a:ext cx="155448" cy="155448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" name="Shape 5"/>
          <p:cNvSpPr/>
          <p:nvPr/>
        </p:nvSpPr>
        <p:spPr>
          <a:xfrm>
            <a:off x="585216" y="1307592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30759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98448" y="129844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.env + dbconnect securise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664208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585216" y="1609344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160934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98448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 bcrypt mots de passe admin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1965960"/>
            <a:ext cx="155448" cy="155448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5" name="Shape 13"/>
          <p:cNvSpPr/>
          <p:nvPr/>
        </p:nvSpPr>
        <p:spPr>
          <a:xfrm>
            <a:off x="585216" y="1911096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191109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98448" y="1901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CSRF tous les formulaires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2267712"/>
            <a:ext cx="155448" cy="155448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9" name="Shape 17"/>
          <p:cNvSpPr/>
          <p:nvPr/>
        </p:nvSpPr>
        <p:spPr>
          <a:xfrm>
            <a:off x="585216" y="2212848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221284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98448" y="22037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erreurs global + logs + page 500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2569464"/>
            <a:ext cx="155448" cy="155448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251460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369A1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" y="25146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98448" y="25054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brute-force 5 tentatives par IP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84048" y="2871216"/>
            <a:ext cx="155448" cy="1554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Shape 25"/>
          <p:cNvSpPr/>
          <p:nvPr/>
        </p:nvSpPr>
        <p:spPr>
          <a:xfrm>
            <a:off x="585216" y="2816352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281635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98448" y="2807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BDD + suppression SELECT * + gzip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4048" y="3172968"/>
            <a:ext cx="155448" cy="1554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585216" y="3118104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" y="311810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98448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RGAA alt/contraste/clavier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4048" y="3474720"/>
            <a:ext cx="155448" cy="1554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Shape 33"/>
          <p:cNvSpPr/>
          <p:nvPr/>
        </p:nvSpPr>
        <p:spPr>
          <a:xfrm>
            <a:off x="585216" y="3419856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" y="341985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98448" y="34107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docker-compose fonctionnel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4048" y="3776472"/>
            <a:ext cx="155448" cy="1554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9" name="Shape 37"/>
          <p:cNvSpPr/>
          <p:nvPr/>
        </p:nvSpPr>
        <p:spPr>
          <a:xfrm>
            <a:off x="585216" y="3721608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" y="372160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298448" y="37124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tests PHPUnit securite validation perf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4048" y="4078224"/>
            <a:ext cx="155448" cy="1554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Shape 41"/>
          <p:cNvSpPr/>
          <p:nvPr/>
        </p:nvSpPr>
        <p:spPr>
          <a:xfrm>
            <a:off x="585216" y="402336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585216" y="402336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298448" y="40142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InnoDB + utf8mb4 + cles etrangeres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84048" y="4379976"/>
            <a:ext cx="155448" cy="155448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7" name="Shape 45"/>
          <p:cNvSpPr/>
          <p:nvPr/>
        </p:nvSpPr>
        <p:spPr>
          <a:xfrm>
            <a:off x="585216" y="4325112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C9A84C"/>
          </a:solidFill>
          <a:ln/>
        </p:spPr>
      </p:sp>
      <p:sp>
        <p:nvSpPr>
          <p:cNvPr id="48" name="Text 46"/>
          <p:cNvSpPr/>
          <p:nvPr/>
        </p:nvSpPr>
        <p:spPr>
          <a:xfrm>
            <a:off x="585216" y="432511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98448" y="43159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→ main via Merge Request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81728" y="804672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09744" y="877824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Methode de travail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791456" y="1261872"/>
            <a:ext cx="3986784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/>
        </p:spPr>
      </p:sp>
      <p:sp>
        <p:nvSpPr>
          <p:cNvPr id="53" name="Text 51"/>
          <p:cNvSpPr/>
          <p:nvPr/>
        </p:nvSpPr>
        <p:spPr>
          <a:xfrm>
            <a:off x="4864608" y="1261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Branche develop pour tout le developpement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91456" y="1563624"/>
            <a:ext cx="3986784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864608" y="15636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Merge Request vers main en fin de projet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91456" y="1865376"/>
            <a:ext cx="3986784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/>
        </p:spPr>
      </p:sp>
      <p:sp>
        <p:nvSpPr>
          <p:cNvPr id="57" name="Text 55"/>
          <p:cNvSpPr/>
          <p:nvPr/>
        </p:nvSpPr>
        <p:spPr>
          <a:xfrm>
            <a:off x="4864608" y="1865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Commits semantiques : feat / fix / perf / test / release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91456" y="2167128"/>
            <a:ext cx="3986784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864608" y="21671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Messages clairs et horodates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791456" y="2468880"/>
            <a:ext cx="3986784" cy="256032"/>
          </a:xfrm>
          <a:prstGeom prst="roundRect">
            <a:avLst>
              <a:gd name="adj" fmla="val 21429"/>
            </a:avLst>
          </a:prstGeom>
          <a:solidFill>
            <a:srgbClr val="EEF2FF"/>
          </a:solidFill>
          <a:ln/>
        </p:spPr>
      </p:sp>
      <p:sp>
        <p:nvSpPr>
          <p:cNvPr id="61" name="Text 59"/>
          <p:cNvSpPr/>
          <p:nvPr/>
        </p:nvSpPr>
        <p:spPr>
          <a:xfrm>
            <a:off x="4864608" y="2468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.gitignore : exclut .env, logs/, vendor/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681728" y="292608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809744" y="2999232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Chiffres cles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791456" y="3401568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65" name="Text 63"/>
          <p:cNvSpPr/>
          <p:nvPr/>
        </p:nvSpPr>
        <p:spPr>
          <a:xfrm>
            <a:off x="4791456" y="3419856"/>
            <a:ext cx="1783080" cy="4206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C9A84C"/>
                </a:solidFill>
                <a:latin typeface="Cambria"/>
                <a:ea typeface="Cambria"/>
              </a:rPr>
              <a:t>110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4791456" y="385876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sur develop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766560" y="3401568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0369A1"/>
          </a:solidFill>
          <a:ln/>
        </p:spPr>
      </p:sp>
      <p:sp>
        <p:nvSpPr>
          <p:cNvPr id="68" name="Text 66"/>
          <p:cNvSpPr/>
          <p:nvPr/>
        </p:nvSpPr>
        <p:spPr>
          <a:xfrm>
            <a:off x="6766560" y="3419856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9" name="Text 67"/>
          <p:cNvSpPr/>
          <p:nvPr/>
        </p:nvSpPr>
        <p:spPr>
          <a:xfrm>
            <a:off x="6766560" y="385876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Request → main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91456" y="4279392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71" name="Text 69"/>
          <p:cNvSpPr/>
          <p:nvPr/>
        </p:nvSpPr>
        <p:spPr>
          <a:xfrm>
            <a:off x="4791456" y="4297680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4791456" y="473659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crees/modifies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766560" y="4279392"/>
            <a:ext cx="1783080" cy="731520"/>
          </a:xfrm>
          <a:prstGeom prst="roundRect">
            <a:avLst>
              <a:gd name="adj" fmla="val 12500"/>
            </a:avLst>
          </a:prstGeom>
          <a:solidFill>
            <a:srgbClr val="0369A1"/>
          </a:solidFill>
          <a:ln/>
        </p:spPr>
      </p:sp>
      <p:sp>
        <p:nvSpPr>
          <p:cNvPr id="74" name="Text 72"/>
          <p:cNvSpPr/>
          <p:nvPr/>
        </p:nvSpPr>
        <p:spPr>
          <a:xfrm>
            <a:off x="6766560" y="4297680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75" name="Text 73"/>
          <p:cNvSpPr/>
          <p:nvPr/>
        </p:nvSpPr>
        <p:spPr>
          <a:xfrm>
            <a:off x="6766560" y="473659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etapes realisees</a:t>
            </a:r>
            <a:endParaRPr lang="en-US" sz="900" dirty="0"/>
          </a:p>
        </p:txBody>
      </p:sp>
      <p:sp>
        <p:nvSpPr>
          <p:cNvPr id="76" name="Rectangle 75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Difficultes rencontrees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4206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595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— DELIMITER MySQL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243584"/>
            <a:ext cx="4005072" cy="566928"/>
          </a:xfrm>
          <a:prstGeom prst="roundRect">
            <a:avLst>
              <a:gd name="adj" fmla="val 11290"/>
            </a:avLst>
          </a:prstGeom>
          <a:solidFill>
            <a:srgbClr val="FEF2F2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261872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DELIMITER est une directive CLI MySQL uniquement. L'import via pipe provoquait des erreurs de syntaxe systematiques sur toutes les procedures stockees.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883664"/>
            <a:ext cx="4005072" cy="749808"/>
          </a:xfrm>
          <a:prstGeom prst="roundRect">
            <a:avLst>
              <a:gd name="adj" fmla="val 8537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" y="1901952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Separation en 2 fichiers : saecine.sql (tables/donnees) et procedures.sql sans DELIMITER. Service db_init dedie pour l'import sequentiel.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420624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8595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 — Parametre nomme duplique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243584"/>
            <a:ext cx="4005072" cy="566928"/>
          </a:xfrm>
          <a:prstGeom prst="roundRect">
            <a:avLst>
              <a:gd name="adj" fmla="val 11290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1261872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PDO avec ATTR_EMULATE_PREPARES=false rejette le meme parametre nomme (:identifier) utilise deux fois dans une requete.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883664"/>
            <a:ext cx="4005072" cy="749808"/>
          </a:xfrm>
          <a:prstGeom prst="roundRect">
            <a:avLst>
              <a:gd name="adj" fmla="val 8537"/>
            </a:avLst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1901952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Renommage en :identifier1 et :identifier2. Remplacement par execute([$value]) avec ? positionnel dans les boucles d'inscription.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83464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834640"/>
            <a:ext cx="4206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87121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PHPUnit — Extension mbstring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255264"/>
            <a:ext cx="4005072" cy="566928"/>
          </a:xfrm>
          <a:prstGeom prst="roundRect">
            <a:avLst>
              <a:gd name="adj" fmla="val 11290"/>
            </a:avLst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" y="3273552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PHPUnit 11 requiert mbstring. Non activee dans le php.ini de la CLI Scoop — echec a l'installation Composer.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3895344"/>
            <a:ext cx="4005072" cy="749808"/>
          </a:xfrm>
          <a:prstGeom prst="roundRect">
            <a:avLst>
              <a:gd name="adj" fmla="val 8537"/>
            </a:avLst>
          </a:prstGeom>
          <a:solidFill>
            <a:srgbClr val="F0FDF4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3913632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Activation manuelle dans php.ini CLI + composer install --ignore-platform-req=ext-mbstring. 2 tests de validation corriges post-installation.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34640"/>
            <a:ext cx="420624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4818888" y="287121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Docker — Reinitialisation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255264"/>
            <a:ext cx="4005072" cy="566928"/>
          </a:xfrm>
          <a:prstGeom prst="roundRect">
            <a:avLst>
              <a:gd name="adj" fmla="val 11290"/>
            </a:avLst>
          </a:prstGeom>
          <a:solidFill>
            <a:srgbClr val="FE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3273552"/>
            <a:ext cx="3858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docker-entrypoint-initdb.d ne s'execute qu'a la premiere initialisation du volume. La BDD n'etait pas reimportee apres modification du schema.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895344"/>
            <a:ext cx="4005072" cy="749808"/>
          </a:xfrm>
          <a:prstGeom prst="roundRect">
            <a:avLst>
              <a:gd name="adj" fmla="val 8537"/>
            </a:avLst>
          </a:prstGeom>
          <a:solidFill>
            <a:srgbClr val="F0FDF4"/>
          </a:solidFill>
          <a:ln/>
        </p:spPr>
      </p:sp>
      <p:sp>
        <p:nvSpPr>
          <p:cNvPr id="31" name="Text 29"/>
          <p:cNvSpPr/>
          <p:nvPr/>
        </p:nvSpPr>
        <p:spPr>
          <a:xfrm>
            <a:off x="4873752" y="3913632"/>
            <a:ext cx="38587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Service db_init ephemere : attend MySQL ready, importe saecine.sql puis procedures.sql, s'arrete. Reproductible a chaque docker compose up.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4791456"/>
            <a:ext cx="8631936" cy="274320"/>
          </a:xfrm>
          <a:prstGeom prst="roundRect">
            <a:avLst>
              <a:gd name="adj" fmla="val 26667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47914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HTTPS (Let's Encrypt)  •  Interface admin complete  •  Tests d'integration  •  Pipeline CI/CD GitLab</a:t>
            </a:r>
            <a:endParaRPr lang="en-US" sz="1100" dirty="0"/>
          </a:p>
        </p:txBody>
      </p:sp>
      <p:sp>
        <p:nvSpPr>
          <p:cNvPr id="34" name="Rectangle 33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— Objectifs du cahier des charges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8631936" cy="457200"/>
          </a:xfrm>
          <a:prstGeom prst="roundRect">
            <a:avLst>
              <a:gd name="adj" fmla="val 14000"/>
            </a:avLst>
          </a:prstGeom>
          <a:solidFill>
            <a:srgbClr val="EEF2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(critique)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97480" y="822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bcrypt, brute-force, XSS, injection SQL, .env, MIME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0" y="859536"/>
            <a:ext cx="804672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001000" y="85953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863193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3502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(haute)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33502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BDD, GZIP, cache HTTP, suppression SELECT *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01000" y="1371600"/>
            <a:ext cx="804672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1371600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1847088"/>
            <a:ext cx="8631936" cy="457200"/>
          </a:xfrm>
          <a:prstGeom prst="roundRect">
            <a:avLst>
              <a:gd name="adj" fmla="val 14000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847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(haute)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18470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erreurs, logs, 129 tests PHPUnit, validation serveur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1883664"/>
            <a:ext cx="804672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001000" y="188366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2359152"/>
            <a:ext cx="863193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3591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35915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docker-compose + db_init automatique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2395728"/>
            <a:ext cx="804672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23957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871216"/>
            <a:ext cx="8631936" cy="457200"/>
          </a:xfrm>
          <a:prstGeom prst="roundRect">
            <a:avLst>
              <a:gd name="adj" fmla="val 14000"/>
            </a:avLst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donnees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287121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InnoDB, utf8mb4, 4 cles etrangeres, index, bcrypt donnees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01000" y="2907792"/>
            <a:ext cx="804672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0" y="2907792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" y="3383280"/>
            <a:ext cx="863193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RGAA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97480" y="3383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clavier, alt images, sr-only, contrastes WCAG AA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01000" y="3419856"/>
            <a:ext cx="804672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341985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895344"/>
            <a:ext cx="8631936" cy="457200"/>
          </a:xfrm>
          <a:prstGeom prst="roundRect">
            <a:avLst>
              <a:gd name="adj" fmla="val 14000"/>
            </a:avLst>
          </a:prstGeom>
          <a:solidFill>
            <a:srgbClr val="EEF2FF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8953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 &gt;= 60%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97480" y="389534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tests PHPUnit — 100% de reussite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01000" y="3931920"/>
            <a:ext cx="804672" cy="347472"/>
          </a:xfrm>
          <a:prstGeom prst="roundRect">
            <a:avLst>
              <a:gd name="adj" fmla="val 18421"/>
            </a:avLst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0" y="3931920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4407408"/>
            <a:ext cx="8631936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4074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697480" y="440740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implemente — certificat SSL requis, hors perimetre local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01000" y="4443984"/>
            <a:ext cx="804672" cy="347472"/>
          </a:xfrm>
          <a:prstGeom prst="roundRect">
            <a:avLst>
              <a:gd name="adj" fmla="val 18421"/>
            </a:avLst>
          </a:prstGeom>
          <a:solidFill>
            <a:srgbClr val="B45309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444398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032" y="749808"/>
            <a:ext cx="8631936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749808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697480" y="749808"/>
            <a:ext cx="5212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01000" y="749808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Statut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5087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Damien Rinaldis  |  Ethan Stasse  —  IUT Saint-Die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645920" cy="173736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164592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C9A84C"/>
                </a:solidFill>
                <a:latin typeface="Cambria"/>
                <a:ea typeface="Cambria"/>
              </a:rPr>
              <a:t>10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2103120"/>
            <a:ext cx="1645920" cy="173736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21488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651760" y="301752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1645920" cy="173736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148840"/>
            <a:ext cx="164592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C9A84C"/>
                </a:solidFill>
                <a:latin typeface="Cambria"/>
                <a:ea typeface="Cambria"/>
              </a:rPr>
              <a:t>26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2103120"/>
            <a:ext cx="1645920" cy="1737360"/>
          </a:xfrm>
          <a:prstGeom prst="roundRect">
            <a:avLst>
              <a:gd name="adj" fmla="val 666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1488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675120" y="301752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416052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8284464" y="4759452"/>
            <a:ext cx="658368" cy="274320"/>
          </a:xfrm>
          <a:solidFill>
            <a:srgbClr val="1E2761"/>
          </a:solidFill>
          <a:ln>
            <a:noFill/>
          </a:ln>
          <a:prstGeom prst="roundRect">
            <a:avLst>
              <a:gd name="adj" fmla="val 4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4759452"/>
            <a:ext cx="65836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9A84C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22</cp:revision>
  <dcterms:created xsi:type="dcterms:W3CDTF">2026-06-12T06:43:30Z</dcterms:created>
  <dcterms:modified xsi:type="dcterms:W3CDTF">2026-06-12T07:09:56Z</dcterms:modified>
</cp:coreProperties>
</file>